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011680"/>
            <a:ext cx="4876495" cy="508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틱톡 숙폼 영상 10개 분석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CC"/>
                </a:solidFill>
                <a:latin typeface="Malgun Gothic"/>
              </a:rPr>
              <a:t>10대 뷰티/다이어트 카테고리 | 프레임 단위 정밀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AA"/>
                </a:solidFill>
                <a:latin typeface="Malgun Gothic"/>
              </a:rPr>
              <a:t>분석: 재원(데이터 분석가) | 마케팅: 민지 | 대본: 수현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77799"/>
                </a:solidFill>
                <a:latin typeface="Malgun Gothic"/>
              </a:rPr>
              <a:t>2026.04.01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분석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68EE"/>
                </a:solidFill>
                <a:latin typeface="Malgun Gothic"/>
              </a:rPr>
              <a:t>분석 대상 영상 10개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1. 겨드랑이는 왜 신경안씀 #이뿠지는법 (7장면)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2. 다리 이뿠지는 초 현실적인 방법 #다이어트 (4장면)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3. 방학동안 힘내보에! #다이어트자극 (6장면)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4. 블랙헤드 빼도빼도 계속 생기는이유 (11장면)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5. 신경쓰이는사람 #까망이 #관리 (11장면)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6. 이것만 해도 엄청 이뿠져 #이뿠지는법 (4장면)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7. 이렇게 했다는데 #미백 #피부관리 (6장면)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8. 진짜 이뿠져서옴 #이뿠지자고 (7장면)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9. 피부 하얘지고 싶은 사람은 꼭 봐 (4장면)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10. 피지 엥어짜지마 #피지 (6장면)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68EE"/>
                </a:solidFill>
                <a:latin typeface="Malgun Gothic"/>
              </a:rPr>
              <a:t>분석 방법론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&gt;&gt; 프레임 추출 분석: 영상별 주요 장면 캐쳐 후 시각적 분석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&gt;&gt; 총 분석 프레임: 66개 장면 (평균 6.6장면/영상)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&gt;&gt; 분석 항목: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   - 첫 장면 훅킹 유형 (네이트판/질문/이미지/밈)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   - 텍스트 표시 방식 (위치, 크기, 색상)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   - 이미지 사용 패턴 (횟수, 위치, 유형)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   - 장면 전환 패턴 및 구조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   - 말투/문체 특징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   - 감정 곡선 흐름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&gt;&gt; 카테고리: 뷰티(피부관리/미백) 7개, 다이어트 3개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&gt;&gt; 타겟: 10대~20대 초반 여성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Malgun Gothic"/>
              </a:rPr>
              <a:t>&gt;&gt; 공통 특징: 전부 PPL/광고 포함 콘텐츠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공통 구조 분석: 7단계 스토리 프레임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463040" cy="1097280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Malgun Gothic"/>
              </a:rPr>
              <a:t>1단계
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691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algun Gothic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공감형 이미지 + 질문/공감 텍스트
"다들 이정도 블랙헤드는 가지고있지?"
"여러분의 소음순은 어떤 색상입니까?"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463040"/>
            <a:ext cx="1463040" cy="1097280"/>
          </a:xfrm>
          <a:prstGeom prst="roundRect">
            <a:avLst/>
          </a:prstGeom>
          <a:solidFill>
            <a:srgbClr val="FF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Malgun Gothic"/>
              </a:rPr>
              <a:t>2단계
공감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algun Gothic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74320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고민 심화, 감정 자극
"나중에 관리하기 진짜 빡쒀..."
"반에서 하얀 애들이 너무 부러웠음"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1463040"/>
            <a:ext cx="1463040" cy="109728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Malgun Gothic"/>
              </a:rPr>
              <a:t>3단계
원인 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91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algun Gothic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74320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전문적 지식 전달 (텍스트 only)
"블랙헤드는 피지가 모공속에 쌓여서"
"멜라닌 색소가 많아서"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463040"/>
            <a:ext cx="1463040" cy="1097280"/>
          </a:xfrm>
          <a:prstGeom prst="roundRect">
            <a:avLst/>
          </a:prstGeom>
          <a:solidFill>
            <a:srgbClr val="DDA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Malgun Gothic"/>
              </a:rPr>
              <a:t>4단계
기존 방법
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691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algun Gothic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74320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기존 해결책의 한계 제시
"코팩은 억지로 블랙헤드를 짜내는것"
"병원도 알아봤는데 별 소용 없더라구요"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463040"/>
            <a:ext cx="1463040" cy="1097280"/>
          </a:xfrm>
          <a:prstGeom prst="roundRect">
            <a:avLst/>
          </a:prstGeom>
          <a:solidFill>
            <a:srgbClr val="4EC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Malgun Gothic"/>
              </a:rPr>
              <a:t>5단계
해결책
(제품소개)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691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algun Gothic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74320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자연스러운 제품 도입
"그래서 제가 찾은게 착색전용크림"
"워시비 블랙헤드 오일 쓰구있어!"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463040"/>
            <a:ext cx="1463040" cy="1097280"/>
          </a:xfrm>
          <a:prstGeom prst="roundRect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Malgun Gothic"/>
              </a:rPr>
              <a:t>6단계
사용후기
/증거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691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Malgun Gothic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74320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비포/애프터 + 체험 후기
"한달정도면 꾸준히 써주면"
"2주만에 다리 얇아진썬ㅋㅋㅋ"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1463040"/>
            <a:ext cx="1463040" cy="1097280"/>
          </a:xfrm>
          <a:prstGeom prst="roundRect">
            <a:avLst/>
          </a:prstGeom>
          <a:solidFill>
            <a:srgbClr val="77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Malgun Gothic"/>
              </a:rPr>
              <a:t>7단계
CTA/마무리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74320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행동 촉구 + 부가 팁
"지금 당장 뷰티라도 관리해!"
"아무거나 사지말고 돈버리지마 ㅠㅠㅠ"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FD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6B9D"/>
                </a:solidFill>
                <a:latin typeface="Malgun Gothic"/>
              </a:rPr>
              <a:t>핵심 발견: 10개 영상 모두 "훅킹 -&gt; 공감 -&gt; 원인 -&gt; 부정 -&gt; 제품 -&gt; 후기 -&gt; CTA" 7단계 구조를 따름. 광고임에도 불구하고 자연스러운 스토리텔링으로 제품을 녹여내는 패턴.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텍스트 / 비주얼 스타일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4EC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50292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5D1"/>
                </a:solidFill>
                <a:latin typeface="Malgun Gothic"/>
              </a:rPr>
              <a:t>텍스트 스타일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폰트: 고딕 계열, 둥근 산세리프 (맑은고딕 유사)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크기: 본문 16~20pt 추정, 강조부 22~28pt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색상: 검정(#2D2D2D) 기본, 강조시 볼드체 활용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특수 강조: 밑줄/볼드 혼용, 색 변경은 드물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줄간격: 넓음 (1.8~2.0배), 가독성 극대화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정렬: 가운데 정렬 기본, 긴 텍스트는 좌측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위치: 이미지 아래에 텍스트 배치가 주류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한 화면 텍스트양: 3~6줄이 최적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474720" cy="5029200"/>
          </a:xfrm>
          <a:prstGeom prst="roundRect">
            <a:avLst/>
          </a:prstGeom>
          <a:solidFill>
            <a:srgbClr val="F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9D"/>
                </a:solidFill>
                <a:latin typeface="Malgun Gothic"/>
              </a:rPr>
              <a:t>배경 스타일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기본 배경: 순백(#FFFFFF) 또는 연회색(#F5F5F5)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이미지 장면: 상단 이미지 + 하단 흰배경 텍스트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텍스트 전용: 완전 흰배경에 텍스트만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밈/캐쳐: 유튜브/예능 캐쳐 + 자막 오버레이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제품 장면: 실제 촬영 사진 (생활감 있는 배경)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색상 배경: 제품 설명시 파스텔톤 가끔 사용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(예: 연핑크, 연파랑 - 화장품 성분 설명)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전체적으로 깔끔하고 미니멀한 느낌 유지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371600"/>
            <a:ext cx="3749039" cy="5029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Malgun Gothic"/>
              </a:rPr>
              <a:t>레이아웃 패턴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패턴 A (60%): 상단 이미지 + 하단 텍스트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이미지가 화면 상단 40~50% 차지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텍스트가 하단에 가운데 정렬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패턴 B (25%): 텍스트 전용 화면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흰배경에 큰 텍스트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설명/원인 단계에서 주로 사용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패턴 C (15%): 밈/캐쳐 + 자막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예능/유튜브 캐쳐 위에 자막 오버레이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"어우 넘어갈게요", "완벽하다!" 등 리액션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세로형(9:16) 최적화, 여백 충분히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이미지 사용 패턴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68EE"/>
                </a:solidFill>
                <a:latin typeface="Malgun Gothic"/>
              </a:rPr>
              <a:t>영상별 이미지 사용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920240"/>
            <a:ext cx="2286000" cy="411480"/>
          </a:xfrm>
          <a:prstGeom prst="round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3A3A5C"/>
                </a:solidFill>
                <a:latin typeface="Malgun Gothic"/>
              </a:rPr>
              <a:t>영상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920240"/>
            <a:ext cx="731520" cy="411480"/>
          </a:xfrm>
          <a:prstGeom prst="round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A3A5C"/>
                </a:solidFill>
                <a:latin typeface="Malgun Gothic"/>
              </a:rPr>
              <a:t>총장면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920240"/>
            <a:ext cx="914400" cy="411480"/>
          </a:xfrm>
          <a:prstGeom prst="round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A3A5C"/>
                </a:solidFill>
                <a:latin typeface="Malgun Gothic"/>
              </a:rPr>
              <a:t>이미지장면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920240"/>
            <a:ext cx="640080" cy="411480"/>
          </a:xfrm>
          <a:prstGeom prst="round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A3A5C"/>
                </a:solidFill>
                <a:latin typeface="Malgun Gothic"/>
              </a:rPr>
              <a:t>비율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920240"/>
            <a:ext cx="3931920" cy="411480"/>
          </a:xfrm>
          <a:prstGeom prst="round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3A3A5C"/>
                </a:solidFill>
                <a:latin typeface="Malgun Gothic"/>
              </a:rPr>
              <a:t>이미지유형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920240"/>
            <a:ext cx="2743200" cy="411480"/>
          </a:xfrm>
          <a:prstGeom prst="round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3A3A5C"/>
                </a:solidFill>
                <a:latin typeface="Malgun Gothic"/>
              </a:rPr>
              <a:t>첫장면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331720"/>
            <a:ext cx="2286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겨드랑이는 왜 신경안씀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331720"/>
            <a:ext cx="7315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331720"/>
            <a:ext cx="9144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331720"/>
            <a:ext cx="64008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57%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331720"/>
            <a:ext cx="39319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인물사진, 피부클로즈업, 제품사진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331720"/>
            <a:ext cx="2743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인물 이미지+공감텍스트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743200"/>
            <a:ext cx="22860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다리 이뿠지는 방법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743200"/>
            <a:ext cx="7315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743200"/>
            <a:ext cx="9144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743200"/>
            <a:ext cx="64008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743200"/>
            <a:ext cx="39319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비포애프터 사진, 제품사진, 착용샷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743200"/>
            <a:ext cx="27432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비포/애프터 이미지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154680"/>
            <a:ext cx="2286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방학동안 힘내보에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154680"/>
            <a:ext cx="7315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54680"/>
            <a:ext cx="9144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154680"/>
            <a:ext cx="64008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67%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3154680"/>
            <a:ext cx="39319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예능캐쳐, 일러스트, 광고캐쳐, 동물밈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154680"/>
            <a:ext cx="2743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예능 밈(남자 유튜버)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566160"/>
            <a:ext cx="22860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블랙헤드 계속 생기는이유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3566160"/>
            <a:ext cx="7315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11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3566160"/>
            <a:ext cx="9144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3566160"/>
            <a:ext cx="64008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36%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3566160"/>
            <a:ext cx="39319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코클로즈업, 성분도표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3566160"/>
            <a:ext cx="27432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코 클로즈업 사진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977640"/>
            <a:ext cx="2286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신경쓰이는사람 #까망이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3977640"/>
            <a:ext cx="7315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11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3977640"/>
            <a:ext cx="9144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3977640"/>
            <a:ext cx="64008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27%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3977640"/>
            <a:ext cx="39319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색상차트, 의사사진, 피부전후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3977640"/>
            <a:ext cx="2743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퀴즈형 색상차트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389120"/>
            <a:ext cx="22860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이것만 해도 이뿠져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60320" y="4389120"/>
            <a:ext cx="7315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4389120"/>
            <a:ext cx="9144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4389120"/>
            <a:ext cx="64008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100%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4389120"/>
            <a:ext cx="39319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다리비포애프터, 제품, 야외사진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4389120"/>
            <a:ext cx="27432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다리 비포 사진+결과텍스트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800600"/>
            <a:ext cx="2286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이렇게 했다는데 #미백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4800600"/>
            <a:ext cx="7315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" y="4800600"/>
            <a:ext cx="9144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4800600"/>
            <a:ext cx="64008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67%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4800600"/>
            <a:ext cx="39319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인물사진, 제품사진, 손클로즈업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78240" y="4800600"/>
            <a:ext cx="2743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인물(친구) 사진+스토리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5212080"/>
            <a:ext cx="22860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진짜 이뿠져서옴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60320" y="5212080"/>
            <a:ext cx="7315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91840" y="5212080"/>
            <a:ext cx="9144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06240" y="5212080"/>
            <a:ext cx="64008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71%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46320" y="5212080"/>
            <a:ext cx="39319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예능캐쳐, 음식사진, 제품사진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78240" y="5212080"/>
            <a:ext cx="27432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예능캐쳐(시험종료 밈)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5623560"/>
            <a:ext cx="2286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피부 하얘지고 싶은 사람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560320" y="5623560"/>
            <a:ext cx="7315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91840" y="5623560"/>
            <a:ext cx="9144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06240" y="5623560"/>
            <a:ext cx="64008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100%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5623560"/>
            <a:ext cx="393192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피부클로즈업, 예능캐쳐, 피부사진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78240" y="5623560"/>
            <a:ext cx="27432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어두운피부 클로즈업+공감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" y="6035040"/>
            <a:ext cx="22860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피지 엥어짜지마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6035040"/>
            <a:ext cx="7315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291840" y="6035040"/>
            <a:ext cx="9144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06240" y="6035040"/>
            <a:ext cx="64008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83%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46320" y="6035040"/>
            <a:ext cx="393192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피지클로즈업, 얼굴사진, 제품사진, X표시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78240" y="6035040"/>
            <a:ext cx="2743200" cy="411480"/>
          </a:xfrm>
          <a:prstGeom prst="roundRect">
            <a:avLst/>
          </a:prstGeom>
          <a:solidFill>
            <a:srgbClr val="FAFA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피지 클로즈업+경고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" y="5760720"/>
            <a:ext cx="11521440" cy="731520"/>
          </a:xfrm>
          <a:prstGeom prst="round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7B68EE"/>
                </a:solidFill>
                <a:latin typeface="Malgun Gothic"/>
              </a:rPr>
              <a:t>평균 이미지 비율: 70.8% | 이미지 유형 TOP 3: 1) 제품 실사진 2) 피부/신체 클로즈업 3) 예능/밈 캐쳐 | 첫장면 이미지 사용률: 100% (10/10개 영상)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말투 / 문체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9D"/>
                </a:solidFill>
                <a:latin typeface="Malgun Gothic"/>
              </a:rPr>
              <a:t>핵심 말투 특징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반말 기본: "~거든?", "~잖아", "~더라구", "~할걸?"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10대 인터넷 용어: "ㅋㅋㅋ", "ㅠㅠ", "ㅠㅠ", "ㅇㅇ", "넘", "진짜"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친한 친구에게 말하는 듯한 톤: "내가 알려줄게", "나도 그랬는데"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문장 끝 이모티콘/특수기호 활용: "~썬ㅋㅋ", "~빡쒀...", "~ㅠㅠㅠ"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과장형 표현 빈번: "진짜 미쳤어", "엄청 이뿠져", "완전 달라짐"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5D1"/>
                </a:solidFill>
                <a:latin typeface="Malgun Gothic"/>
              </a:rPr>
              <a:t>설득 화법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경험담 화법: "나도 원래~", "내 친구가~", "우리반 애가~"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부정 강조: "절대 안돼", "엥어짜지마", "돈버리지마"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시간 한정: "2주만에", "한달이면", "방학동안만"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사회적 증거: "다들 하나씩 있잖아", "친구가 추천해줘서"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공포/불안 자극: "나중에 남자친구 생기기도 할건데"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68EE"/>
                </a:solidFill>
                <a:latin typeface="Malgun Gothic"/>
              </a:rPr>
              <a:t>영상별 대표 문체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"요즘 학생애들 보면 전부 외모만 신경쓰더라" - 공감형 진입, 또래 관찰자 시점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"다이어트 없이 운동 없이 허벅지 얇아지는 법 알려줄게" - 솔루션 약속형, 조건 없음 강조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"어우 넘어갈게요... 무자성으로 찌질거릴 사람은 그냥 넘기고" - 필터링형, 진성 타겟만 남기기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"다들 이정도 블랙헤드는 가지고있지?" - 질문형, 공감 유도 + 관심 끌기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"혹시 소중이가 까매서 걱정이신분 있나요?" - 민감한 주제 부드럽게 접근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"코에 오돌토돌한 피지나 블랙헤드 같은거 손으로 엥어 빼지는 짓 제발 하지마" - 경고형, 강한 감정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"지난주에 시험 끝났는데... 한 애가 살이 확 빠진거야" - 스토리텔링형, 주변인물 도입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감정 곡선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3108961"/>
            <a:ext cx="1097280" cy="1920239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훅킹
(호기심)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관심 유발
"나도 해당되나?"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468880"/>
            <a:ext cx="1097280" cy="256032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공감
(불안)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1206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감정 고조
"맞아 나도 그래"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429000"/>
            <a:ext cx="1097280" cy="16002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원인
(이해)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51206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지식 습득
"아 그래서구나"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148840"/>
            <a:ext cx="1097280" cy="288036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부정
(좌절)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51206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감정 최고점
"그럼 어쩌지..."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788921"/>
            <a:ext cx="1097280" cy="2240279"/>
          </a:xfrm>
          <a:prstGeom prst="roundRect">
            <a:avLst/>
          </a:prstGeom>
          <a:solidFill>
            <a:srgbClr val="4EC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해결책
(기대)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1206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희망 전환
"이게 있었네!"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108961"/>
            <a:ext cx="1097280" cy="1920239"/>
          </a:xfrm>
          <a:prstGeom prst="round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후기
(안심)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1206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신뢰 확보
"효과 있구나"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2788921"/>
            <a:ext cx="1097280" cy="2240279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CTA
(행동)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51206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행동 유도
"나도 해봐야지"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7A00"/>
                </a:solidFill>
                <a:latin typeface="Malgun Gothic"/>
              </a:rPr>
              <a:t>핵심: "부정" 단계에서 감정을 최고로 끌어올린 뒤, "해결책"으로 급전환하는 것이 구매 전환의 핵심 메커니즘. 4단계-&gt;5단계 전환이 가장 중요.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10대 타겟 전략 분석 (민지 마케터 관점)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F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9D"/>
                </a:solidFill>
                <a:latin typeface="Malgun Gothic"/>
              </a:rPr>
              <a:t>10대 심리 공략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외모 콤플렉스 극대화 시기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"반 애들 다 이뿠", "남자친구 생길때"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또래 비교 심리 활용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"우리반 피부톤이", "친구가 알려줘서"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방학/시험 등 학교 사이클 연계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"방학동안 힘내보에", "시험 끝나고"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용돈 범위 내 제품 추천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가격 직접 언급 회피, "부담없이" 강조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65760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EC5D1"/>
                </a:solidFill>
                <a:latin typeface="Malgun Gothic"/>
              </a:rPr>
              <a:t>플랫폼 최적화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썸네일 = 첫프레임 = 가장 중요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- 10개 중 10개 모두 이미지+텍스트 조합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해시태그 전략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#이뿠지는법 #관리 #피부관리 계열 주력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- 감정형 태그: #이뿠지자고 #다이어트자극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영상 길이: 4~11장면 (30초~90초 추정)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댓글 유도: 질문형 마무리로 참여 촉구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시리즈화: 유사 주제 반복으로 팔로우 유도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383280" cy="22860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B57"/>
                </a:solidFill>
                <a:latin typeface="Malgun Gothic"/>
              </a:rPr>
              <a:t>콘텐츠 믹스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피부관리/미백: 50% (5/10)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다이어트/체형: 30% (3/10)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바디관리(기타): 20% (2/10)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PPL 포함: 100% (10/10)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네이티브 광고 형식: 100%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제품 직접 노출: 평균 2회/영상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&gt;&gt; 가장 많이 등장한 브랜드: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워시비(WASH.B) - 3회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   에이어트 - 2회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68EE"/>
                </a:solidFill>
                <a:latin typeface="Malgun Gothic"/>
              </a:rPr>
              <a:t>민지의 핵심 마케팅 인사이트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1. "광고처럼 보이지 않는 광고"가 핵심 - 10개 영상 모두 친구가 알려주는 느낌의 네이티브 광고 형식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2. 제품 등장 타이밍이 영상 후반 60~70% 지점 - 충분한 공감/문제 인식 후 자연스러운 도입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3. "비포/애프터"는 필수 요소 - 10개 중 8개가 전후 비교 사진 포함, 신뢰 구축의 핵심 장치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4. 부정적 감정(불안/콤플렉스) 자극 후 해결책 제시 = "Pain Point Marketing"의 전형적 패턴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5. 타겟의 일상 언어를 그대로 사용 - "ㅋㅋ", "ㅠㅠ", 반말체 등으로 광고 거부감 최소화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6. 3자 추천 화법("친구가", "우리반 애가") 활용으로 간접 경험 제공 - 직접 판매보다 효과적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7. 학교/시험/방학 등 10대 라이프사이클 키워드 적극 활용 - 시의성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프롬프트 설계 핵심 (수현 대본작가 관점)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4EC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5D1"/>
                </a:solidFill>
                <a:latin typeface="Malgun Gothic"/>
              </a:rPr>
              <a:t>대본 프롬프트 구조 템플릿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[장면 1] 훅킹 (필수: 이미지 + 짧은 질문/공감 1줄)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유형 A: 클로즈업 사진 + "다들 ~하잖아?"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유형 B: 비포/애프터 + "~만에 ~한썬ㅋㅋ"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유형 C: 밈/예능캐쳐 + 상황 설정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[장면 2] 공감 확장 (이미지 유지 + 텍스트 3~5줄 추가)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본인 경험 or 주변인 경험 서술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"나도 원래~", "우리반에~" 패턴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[장면 3~4] 원인/지식 (텍스트 전용 or 도표 이미지)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전문 용어 약간 섞되 쉬운 설명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"~거든?", "~잖아" 식 설명체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[장면 5] 기존 방법 부정 (텍스트 전용, 감정 강조)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"근데 그건 ~해서 소용없어"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볼드/강조 텍스트로 핵심 포인트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[장면 6] 제품 도입 (제품 실사진 + 설명 텍스트)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"그래서 내가 찾은게~"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자연스러운 전환, 광고티 최소화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[장면 7] 후기/CTA (비포애프터 or 텍스트 마무리)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Malgun Gothic"/>
              </a:rPr>
              <a:t>  - 결과 + 행동 촉구 + 부가 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F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9D"/>
                </a:solidFill>
                <a:latin typeface="Malgun Gothic"/>
              </a:rPr>
              <a:t>수현의 대본 작성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1. 한 장면당 텍스트: 최소 2줄, 최대 7줄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2. 반말체 필수, 존댓말은 인용구에서만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3. ㅋㅋ, ㅠㅠ 등 이모티콘 장면당 1~2개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4. 질문형 문장 영상당 최소 2개 포함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5. 제품명 직접 언급은 후반부에서만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6. "~더라구", "~거든?" 어미 적극 활용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7. 과장형 표현은 훅킹과 후기에 집중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486400" cy="256032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Malgun Gothic"/>
              </a:rPr>
              <a:t>이미지 지시문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장면1: [이미지: 주제 관련 클로즈업/비포사진]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장면2: [이미지: 장면1과 동일 or 관련 이미지 유지]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장면3: [이미지: 없음] 또는 [이미지: 도표/인포그래픽]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장면4: [이미지: 없음] 텍스트 강조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장면5: [이미지: 클로즈업/피부사진 + 감정텍스트]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장면6: [이미지: 제품 실사진]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장면7: [이미지: 비포/애프터 비교 or 없음]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** 이미지 검색 키워드 자동 생성 필수 **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2D2D"/>
                </a:solidFill>
                <a:latin typeface="Malgun Gothic"/>
              </a:rPr>
              <a:t>** 이미지 비율: 전체 장면의 60~80% 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핵심 인사이트 &amp; 제언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9D"/>
                </a:solidFill>
                <a:latin typeface="Malgun Gothic"/>
              </a:rPr>
              <a:t>7단계 구조의 법칙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Malgun Gothic"/>
              </a:rPr>
              <a:t>10개 영상 100%가 동일한 "훅킹-공감-원인-부정-해결-후기-CTA" 구조. 이 구조를 프롬프트의 기본 골격으로 반드시 적용해야 함.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4EC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5D1"/>
                </a:solidFill>
                <a:latin typeface="Malgun Gothic"/>
              </a:rPr>
              <a:t>이미지가 스크롤을 멈춤다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Malgun Gothic"/>
              </a:rPr>
              <a:t>첫 장면 이미지 사용률 100%. 텍스트만으로는 스크롤을 멈출 수 없음. 프롬프트에서 매 장면의 이미지 지시문을 필수 출력해야 함.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68EE"/>
                </a:solidFill>
                <a:latin typeface="Malgun Gothic"/>
              </a:rPr>
              <a:t>광고를 광고처럼 보이지 않게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40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Malgun Gothic"/>
              </a:rPr>
              <a:t>10개 모두 PPL이지만 "친구 추천" 화법으로 위장. 프롬프트에서 "자연스러운 경험담 톤"을 명시적으로 지시해야 함.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26279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262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500"/>
                </a:solidFill>
                <a:latin typeface="Malgun Gothic"/>
              </a:rPr>
              <a:t>감정 롤러코스터가 전환율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920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Malgun Gothic"/>
              </a:rPr>
              <a:t>"부정" 단계에서 불안을 극대화한 뒤 "해결책"으로 급전환. 이 감정 낙차가 클수록 구매 전환 높음. 프롬프트에 감정 강도 지시 필요.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77840"/>
            <a:ext cx="548640" cy="548640"/>
          </a:xfrm>
          <a:prstGeom prst="ellipse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CD32"/>
                </a:solidFill>
                <a:latin typeface="Malgun Gothic"/>
              </a:rPr>
              <a:t>10대 언어의 정확한 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943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Malgun Gothic"/>
              </a:rPr>
              <a:t>"ㅋㅋ", "ㅠㅠ", 반말체, "~거든?", "~더라구" 등 특정 어미 패턴이 신뢰감의 핵심. 프롬프트에 어미/문체 예시를 반드시 포함.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Malgun Gothic"/>
              </a:rPr>
              <a:t>최종 제언: 프롬프트에 [7단계 구조 + 장면별 이미지 지시 + 10대 말투 예시 + 감정 강도 레벨] 4가지를 반드시 포함시킬 것. 이 4요소가 숙폼 대본의 성패를 결정함.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